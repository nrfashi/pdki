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nton" charset="1" panose="00000500000000000000"/>
      <p:regular r:id="rId15"/>
    </p:embeddedFont>
    <p:embeddedFont>
      <p:font typeface="Libre Baskerville Bold" charset="1" panose="02000000000000000000"/>
      <p:regular r:id="rId16"/>
    </p:embeddedFont>
    <p:embeddedFont>
      <p:font typeface="Libre Baskerville" charset="1" panose="02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1359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178101" y="3289888"/>
            <a:ext cx="6764725" cy="6715527"/>
          </a:xfrm>
          <a:custGeom>
            <a:avLst/>
            <a:gdLst/>
            <a:ahLst/>
            <a:cxnLst/>
            <a:rect r="r" b="b" t="t" l="l"/>
            <a:pathLst>
              <a:path h="6715527" w="6764725">
                <a:moveTo>
                  <a:pt x="0" y="6715527"/>
                </a:moveTo>
                <a:lnTo>
                  <a:pt x="6764726" y="6715527"/>
                </a:lnTo>
                <a:lnTo>
                  <a:pt x="6764726" y="0"/>
                </a:lnTo>
                <a:lnTo>
                  <a:pt x="0" y="0"/>
                </a:lnTo>
                <a:lnTo>
                  <a:pt x="0" y="671552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279750" y="2192666"/>
            <a:ext cx="16496269" cy="5692118"/>
          </a:xfrm>
          <a:prstGeom prst="rect">
            <a:avLst/>
          </a:prstGeom>
        </p:spPr>
        <p:txBody>
          <a:bodyPr anchor="t" rtlCol="false" tIns="0" lIns="0" bIns="0" rIns="0">
            <a:spAutoFit/>
          </a:bodyPr>
          <a:lstStyle/>
          <a:p>
            <a:pPr algn="ctr">
              <a:lnSpc>
                <a:spcPts val="15125"/>
              </a:lnSpc>
            </a:pPr>
            <a:r>
              <a:rPr lang="en-US" sz="10804">
                <a:solidFill>
                  <a:srgbClr val="390808"/>
                </a:solidFill>
                <a:latin typeface="Anton"/>
                <a:ea typeface="Anton"/>
                <a:cs typeface="Anton"/>
                <a:sym typeface="Anton"/>
              </a:rPr>
              <a:t>KEAMANAN INFORMASI PADA APLIKASI SISTEM INFORMASI MANAJEMEN SDM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0">
            <a:off x="12417222"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639669" y="448392"/>
            <a:ext cx="5147891" cy="580308"/>
          </a:xfrm>
          <a:custGeom>
            <a:avLst/>
            <a:gdLst/>
            <a:ahLst/>
            <a:cxnLst/>
            <a:rect r="r" b="b" t="t" l="l"/>
            <a:pathLst>
              <a:path h="580308" w="5147891">
                <a:moveTo>
                  <a:pt x="5147892" y="0"/>
                </a:moveTo>
                <a:lnTo>
                  <a:pt x="0" y="0"/>
                </a:lnTo>
                <a:lnTo>
                  <a:pt x="0" y="580308"/>
                </a:lnTo>
                <a:lnTo>
                  <a:pt x="5147892" y="580308"/>
                </a:lnTo>
                <a:lnTo>
                  <a:pt x="51478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5400000">
            <a:off x="371601" y="3098481"/>
            <a:ext cx="6764725" cy="6715527"/>
          </a:xfrm>
          <a:custGeom>
            <a:avLst/>
            <a:gdLst/>
            <a:ahLst/>
            <a:cxnLst/>
            <a:rect r="r" b="b" t="t" l="l"/>
            <a:pathLst>
              <a:path h="6715527" w="6764725">
                <a:moveTo>
                  <a:pt x="0" y="6715528"/>
                </a:moveTo>
                <a:lnTo>
                  <a:pt x="6764726" y="6715528"/>
                </a:lnTo>
                <a:lnTo>
                  <a:pt x="6764726" y="0"/>
                </a:lnTo>
                <a:lnTo>
                  <a:pt x="0" y="0"/>
                </a:lnTo>
                <a:lnTo>
                  <a:pt x="0" y="671552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028028" y="2616742"/>
            <a:ext cx="10963140" cy="828556"/>
          </a:xfrm>
          <a:prstGeom prst="rect">
            <a:avLst/>
          </a:prstGeom>
        </p:spPr>
        <p:txBody>
          <a:bodyPr anchor="t" rtlCol="false" tIns="0" lIns="0" bIns="0" rIns="0">
            <a:spAutoFit/>
          </a:bodyPr>
          <a:lstStyle/>
          <a:p>
            <a:pPr algn="ctr">
              <a:lnSpc>
                <a:spcPts val="6831"/>
              </a:lnSpc>
            </a:pPr>
            <a:r>
              <a:rPr lang="en-US" b="true" sz="4879">
                <a:solidFill>
                  <a:srgbClr val="390808"/>
                </a:solidFill>
                <a:latin typeface="Libre Baskerville Bold"/>
                <a:ea typeface="Libre Baskerville Bold"/>
                <a:cs typeface="Libre Baskerville Bold"/>
                <a:sym typeface="Libre Baskerville Bold"/>
              </a:rPr>
              <a:t>DISUSUN OLEH : KELOMPOK 8</a:t>
            </a:r>
          </a:p>
        </p:txBody>
      </p:sp>
      <p:sp>
        <p:nvSpPr>
          <p:cNvPr name="TextBox 6" id="6"/>
          <p:cNvSpPr txBox="true"/>
          <p:nvPr/>
        </p:nvSpPr>
        <p:spPr>
          <a:xfrm rot="0">
            <a:off x="2166125" y="4160839"/>
            <a:ext cx="9891205" cy="2601352"/>
          </a:xfrm>
          <a:prstGeom prst="rect">
            <a:avLst/>
          </a:prstGeom>
        </p:spPr>
        <p:txBody>
          <a:bodyPr anchor="t" rtlCol="false" tIns="0" lIns="0" bIns="0" rIns="0">
            <a:spAutoFit/>
          </a:bodyPr>
          <a:lstStyle/>
          <a:p>
            <a:pPr algn="l" marL="1053523" indent="-526761" lvl="1">
              <a:lnSpc>
                <a:spcPts val="6831"/>
              </a:lnSpc>
              <a:buAutoNum type="arabicPeriod" startAt="1"/>
            </a:pPr>
            <a:r>
              <a:rPr lang="en-US" sz="4879">
                <a:solidFill>
                  <a:srgbClr val="390808"/>
                </a:solidFill>
                <a:latin typeface="Libre Baskerville"/>
                <a:ea typeface="Libre Baskerville"/>
                <a:cs typeface="Libre Baskerville"/>
                <a:sym typeface="Libre Baskerville"/>
              </a:rPr>
              <a:t>Nur Fashihatul Jannah </a:t>
            </a:r>
          </a:p>
          <a:p>
            <a:pPr algn="l" marL="1053523" indent="-526761" lvl="1">
              <a:lnSpc>
                <a:spcPts val="6831"/>
              </a:lnSpc>
              <a:buAutoNum type="arabicPeriod" startAt="1"/>
            </a:pPr>
            <a:r>
              <a:rPr lang="en-US" sz="4879">
                <a:solidFill>
                  <a:srgbClr val="390808"/>
                </a:solidFill>
                <a:latin typeface="Libre Baskerville"/>
                <a:ea typeface="Libre Baskerville"/>
                <a:cs typeface="Libre Baskerville"/>
                <a:sym typeface="Libre Baskerville"/>
              </a:rPr>
              <a:t>Oktalidah Ramadayanti P.</a:t>
            </a:r>
          </a:p>
          <a:p>
            <a:pPr algn="l" marL="1053523" indent="-526761" lvl="1">
              <a:lnSpc>
                <a:spcPts val="7563"/>
              </a:lnSpc>
              <a:buAutoNum type="arabicPeriod" startAt="1"/>
            </a:pPr>
            <a:r>
              <a:rPr lang="en-US" sz="4879">
                <a:solidFill>
                  <a:srgbClr val="390808"/>
                </a:solidFill>
                <a:latin typeface="Libre Baskerville"/>
                <a:ea typeface="Libre Baskerville"/>
                <a:cs typeface="Libre Baskerville"/>
                <a:sym typeface="Libre Baskerville"/>
              </a:rPr>
              <a:t>Ri</a:t>
            </a:r>
            <a:r>
              <a:rPr lang="en-US" sz="4879">
                <a:solidFill>
                  <a:srgbClr val="390808"/>
                </a:solidFill>
                <a:latin typeface="Libre Baskerville"/>
                <a:ea typeface="Libre Baskerville"/>
                <a:cs typeface="Libre Baskerville"/>
                <a:sym typeface="Libre Baskerville"/>
              </a:rPr>
              <a:t>hayati</a:t>
            </a:r>
          </a:p>
        </p:txBody>
      </p:sp>
      <p:sp>
        <p:nvSpPr>
          <p:cNvPr name="TextBox 7" id="7"/>
          <p:cNvSpPr txBox="true"/>
          <p:nvPr/>
        </p:nvSpPr>
        <p:spPr>
          <a:xfrm rot="0">
            <a:off x="12417222" y="4160839"/>
            <a:ext cx="3357764" cy="2562106"/>
          </a:xfrm>
          <a:prstGeom prst="rect">
            <a:avLst/>
          </a:prstGeom>
        </p:spPr>
        <p:txBody>
          <a:bodyPr anchor="t" rtlCol="false" tIns="0" lIns="0" bIns="0" rIns="0">
            <a:spAutoFit/>
          </a:bodyPr>
          <a:lstStyle/>
          <a:p>
            <a:pPr algn="l">
              <a:lnSpc>
                <a:spcPts val="6831"/>
              </a:lnSpc>
            </a:pPr>
            <a:r>
              <a:rPr lang="en-US" sz="4879">
                <a:solidFill>
                  <a:srgbClr val="390808"/>
                </a:solidFill>
                <a:latin typeface="Libre Baskerville"/>
                <a:ea typeface="Libre Baskerville"/>
                <a:cs typeface="Libre Baskerville"/>
                <a:sym typeface="Libre Baskerville"/>
              </a:rPr>
              <a:t>2402061</a:t>
            </a:r>
          </a:p>
          <a:p>
            <a:pPr algn="l">
              <a:lnSpc>
                <a:spcPts val="6831"/>
              </a:lnSpc>
            </a:pPr>
            <a:r>
              <a:rPr lang="en-US" sz="4879">
                <a:solidFill>
                  <a:srgbClr val="390808"/>
                </a:solidFill>
                <a:latin typeface="Libre Baskerville"/>
                <a:ea typeface="Libre Baskerville"/>
                <a:cs typeface="Libre Baskerville"/>
                <a:sym typeface="Libre Baskerville"/>
              </a:rPr>
              <a:t>2402065</a:t>
            </a:r>
          </a:p>
          <a:p>
            <a:pPr algn="l">
              <a:lnSpc>
                <a:spcPts val="6831"/>
              </a:lnSpc>
            </a:pPr>
            <a:r>
              <a:rPr lang="en-US" sz="4879">
                <a:solidFill>
                  <a:srgbClr val="390808"/>
                </a:solidFill>
                <a:latin typeface="Libre Baskerville"/>
                <a:ea typeface="Libre Baskerville"/>
                <a:cs typeface="Libre Baskerville"/>
                <a:sym typeface="Libre Baskerville"/>
              </a:rPr>
              <a:t>2402069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1359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011294" y="3123080"/>
            <a:ext cx="6764725" cy="6715527"/>
          </a:xfrm>
          <a:custGeom>
            <a:avLst/>
            <a:gdLst/>
            <a:ahLst/>
            <a:cxnLst/>
            <a:rect r="r" b="b" t="t" l="l"/>
            <a:pathLst>
              <a:path h="6715527" w="6764725">
                <a:moveTo>
                  <a:pt x="0" y="6715528"/>
                </a:moveTo>
                <a:lnTo>
                  <a:pt x="6764725" y="6715528"/>
                </a:lnTo>
                <a:lnTo>
                  <a:pt x="6764725"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072683" y="895350"/>
            <a:ext cx="7356645" cy="1268822"/>
          </a:xfrm>
          <a:prstGeom prst="rect">
            <a:avLst/>
          </a:prstGeom>
        </p:spPr>
        <p:txBody>
          <a:bodyPr anchor="t" rtlCol="false" tIns="0" lIns="0" bIns="0" rIns="0">
            <a:spAutoFit/>
          </a:bodyPr>
          <a:lstStyle/>
          <a:p>
            <a:pPr algn="l">
              <a:lnSpc>
                <a:spcPts val="10483"/>
              </a:lnSpc>
            </a:pPr>
            <a:r>
              <a:rPr lang="en-US" sz="7487">
                <a:solidFill>
                  <a:srgbClr val="390808"/>
                </a:solidFill>
                <a:latin typeface="Anton"/>
                <a:ea typeface="Anton"/>
                <a:cs typeface="Anton"/>
                <a:sym typeface="Anton"/>
              </a:rPr>
              <a:t>ABSTRAK</a:t>
            </a:r>
          </a:p>
        </p:txBody>
      </p:sp>
      <p:sp>
        <p:nvSpPr>
          <p:cNvPr name="TextBox 7" id="7"/>
          <p:cNvSpPr txBox="true"/>
          <p:nvPr/>
        </p:nvSpPr>
        <p:spPr>
          <a:xfrm rot="0">
            <a:off x="2826371" y="2533683"/>
            <a:ext cx="13073739" cy="5285620"/>
          </a:xfrm>
          <a:prstGeom prst="rect">
            <a:avLst/>
          </a:prstGeom>
        </p:spPr>
        <p:txBody>
          <a:bodyPr anchor="t" rtlCol="false" tIns="0" lIns="0" bIns="0" rIns="0">
            <a:spAutoFit/>
          </a:bodyPr>
          <a:lstStyle/>
          <a:p>
            <a:pPr algn="l">
              <a:lnSpc>
                <a:spcPts val="4710"/>
              </a:lnSpc>
            </a:pPr>
            <a:r>
              <a:rPr lang="en-US" sz="3364">
                <a:solidFill>
                  <a:srgbClr val="390808"/>
                </a:solidFill>
                <a:latin typeface="Libre Baskerville"/>
                <a:ea typeface="Libre Baskerville"/>
                <a:cs typeface="Libre Baskerville"/>
                <a:sym typeface="Libre Baskerville"/>
              </a:rPr>
              <a:t>       </a:t>
            </a:r>
            <a:r>
              <a:rPr lang="en-US" sz="3364">
                <a:solidFill>
                  <a:srgbClr val="390808"/>
                </a:solidFill>
                <a:latin typeface="Libre Baskerville"/>
                <a:ea typeface="Libre Baskerville"/>
                <a:cs typeface="Libre Baskerville"/>
                <a:sym typeface="Libre Baskerville"/>
              </a:rPr>
              <a:t>Penelitian ini membahas penerapan keamanan informasi pada aplikasi SIMPEG (Sistem Informasi Manajemen Sumber Daya Manusia) di Universitas Sebelas Maret. Fokus utama pada tiga aspek keamanan yaitu kerahasiaan, integritas, dan ketersediaan.</a:t>
            </a:r>
          </a:p>
          <a:p>
            <a:pPr algn="l">
              <a:lnSpc>
                <a:spcPts val="4710"/>
              </a:lnSpc>
            </a:pPr>
            <a:r>
              <a:rPr lang="en-US" sz="3364">
                <a:solidFill>
                  <a:srgbClr val="390808"/>
                </a:solidFill>
                <a:latin typeface="Libre Baskerville"/>
                <a:ea typeface="Libre Baskerville"/>
                <a:cs typeface="Libre Baskerville"/>
                <a:sym typeface="Libre Baskerville"/>
              </a:rPr>
              <a:t> Hasil penelitian menunjukkan bahwa sistem telah menerapkan keamanan melalui penggunaan SSO, validasi data oleh operator, serta pembatasan akses hanya untuk pegawai internal, sehingga data pegawai tetap aman.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405900" y="3621869"/>
            <a:ext cx="10827198" cy="3583461"/>
          </a:xfrm>
          <a:custGeom>
            <a:avLst/>
            <a:gdLst/>
            <a:ahLst/>
            <a:cxnLst/>
            <a:rect r="r" b="b" t="t" l="l"/>
            <a:pathLst>
              <a:path h="3583461" w="10827198">
                <a:moveTo>
                  <a:pt x="0" y="0"/>
                </a:moveTo>
                <a:lnTo>
                  <a:pt x="10827198" y="0"/>
                </a:lnTo>
                <a:lnTo>
                  <a:pt x="10827198" y="3583461"/>
                </a:lnTo>
                <a:lnTo>
                  <a:pt x="0" y="3583461"/>
                </a:lnTo>
                <a:lnTo>
                  <a:pt x="0" y="0"/>
                </a:lnTo>
                <a:close/>
              </a:path>
            </a:pathLst>
          </a:custGeom>
          <a:blipFill>
            <a:blip r:embed="rId2"/>
            <a:stretch>
              <a:fillRect l="0" t="0" r="0" b="-41629"/>
            </a:stretch>
          </a:blipFill>
        </p:spPr>
      </p:sp>
      <p:sp>
        <p:nvSpPr>
          <p:cNvPr name="Freeform 3" id="3"/>
          <p:cNvSpPr/>
          <p:nvPr/>
        </p:nvSpPr>
        <p:spPr>
          <a:xfrm flipH="false" flipV="false" rot="0">
            <a:off x="11493236" y="9258300"/>
            <a:ext cx="5147891" cy="580308"/>
          </a:xfrm>
          <a:custGeom>
            <a:avLst/>
            <a:gdLst/>
            <a:ahLst/>
            <a:cxnLst/>
            <a:rect r="r" b="b" t="t" l="l"/>
            <a:pathLst>
              <a:path h="580308" w="5147891">
                <a:moveTo>
                  <a:pt x="0" y="0"/>
                </a:moveTo>
                <a:lnTo>
                  <a:pt x="5147891" y="0"/>
                </a:lnTo>
                <a:lnTo>
                  <a:pt x="5147891"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263331" y="3323319"/>
            <a:ext cx="6764725" cy="6715527"/>
          </a:xfrm>
          <a:custGeom>
            <a:avLst/>
            <a:gdLst/>
            <a:ahLst/>
            <a:cxnLst/>
            <a:rect r="r" b="b" t="t" l="l"/>
            <a:pathLst>
              <a:path h="6715527" w="6764725">
                <a:moveTo>
                  <a:pt x="0" y="6715528"/>
                </a:moveTo>
                <a:lnTo>
                  <a:pt x="6764726" y="6715528"/>
                </a:lnTo>
                <a:lnTo>
                  <a:pt x="6764726"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5271501" y="625011"/>
            <a:ext cx="6551774" cy="1243002"/>
          </a:xfrm>
          <a:prstGeom prst="rect">
            <a:avLst/>
          </a:prstGeom>
        </p:spPr>
        <p:txBody>
          <a:bodyPr anchor="t" rtlCol="false" tIns="0" lIns="0" bIns="0" rIns="0">
            <a:spAutoFit/>
          </a:bodyPr>
          <a:lstStyle/>
          <a:p>
            <a:pPr algn="l">
              <a:lnSpc>
                <a:spcPts val="10156"/>
              </a:lnSpc>
            </a:pPr>
            <a:r>
              <a:rPr lang="en-US" sz="7254">
                <a:solidFill>
                  <a:srgbClr val="390808"/>
                </a:solidFill>
                <a:latin typeface="Anton"/>
                <a:ea typeface="Anton"/>
                <a:cs typeface="Anton"/>
                <a:sym typeface="Anton"/>
              </a:rPr>
              <a:t>LATAR BELAKANG</a:t>
            </a:r>
          </a:p>
        </p:txBody>
      </p:sp>
      <p:sp>
        <p:nvSpPr>
          <p:cNvPr name="TextBox 6" id="6"/>
          <p:cNvSpPr txBox="true"/>
          <p:nvPr/>
        </p:nvSpPr>
        <p:spPr>
          <a:xfrm rot="0">
            <a:off x="1857809" y="2318158"/>
            <a:ext cx="14492770" cy="6647984"/>
          </a:xfrm>
          <a:prstGeom prst="rect">
            <a:avLst/>
          </a:prstGeom>
        </p:spPr>
        <p:txBody>
          <a:bodyPr anchor="t" rtlCol="false" tIns="0" lIns="0" bIns="0" rIns="0">
            <a:spAutoFit/>
          </a:bodyPr>
          <a:lstStyle/>
          <a:p>
            <a:pPr algn="just">
              <a:lnSpc>
                <a:spcPts val="4831"/>
              </a:lnSpc>
            </a:pPr>
            <a:r>
              <a:rPr lang="en-US" sz="3451">
                <a:solidFill>
                  <a:srgbClr val="390808"/>
                </a:solidFill>
                <a:latin typeface="Libre Baskerville"/>
                <a:ea typeface="Libre Baskerville"/>
                <a:cs typeface="Libre Baskerville"/>
                <a:sym typeface="Libre Baskerville"/>
              </a:rPr>
              <a:t>      Pe</a:t>
            </a:r>
            <a:r>
              <a:rPr lang="en-US" sz="3451">
                <a:solidFill>
                  <a:srgbClr val="390808"/>
                </a:solidFill>
                <a:latin typeface="Libre Baskerville"/>
                <a:ea typeface="Libre Baskerville"/>
                <a:cs typeface="Libre Baskerville"/>
                <a:sym typeface="Libre Baskerville"/>
              </a:rPr>
              <a:t>rkembangan teknologi informasi saat ini semakin pesat dan memberikan kemudahan dalam pengelolaan serta akses data, khususnya dalam sistem informasi sumber daya manusia seperti SIMPEG. Namun, kemajuan tersebut juga menimbulkan berbagai risiko keamanan, seperti akses tidak sah, manipulasi data, dan kebocoran informasi. Oleh karena itu, keamanan informasi menjadi hal yang sangat penting untuk menjaga kerahasiaan, integritas, dan ketersediaan data. Penerapan sistem keamanan yang baik diperlukan agar data pegawai tetap terlindungi dan tidak disalahgunakan oleh pihak yang tidak berwenang.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1359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1011294" y="3272117"/>
            <a:ext cx="6764725" cy="6715527"/>
          </a:xfrm>
          <a:custGeom>
            <a:avLst/>
            <a:gdLst/>
            <a:ahLst/>
            <a:cxnLst/>
            <a:rect r="r" b="b" t="t" l="l"/>
            <a:pathLst>
              <a:path h="6715527" w="6764725">
                <a:moveTo>
                  <a:pt x="0" y="6715527"/>
                </a:moveTo>
                <a:lnTo>
                  <a:pt x="6764725" y="6715527"/>
                </a:lnTo>
                <a:lnTo>
                  <a:pt x="6764725" y="0"/>
                </a:lnTo>
                <a:lnTo>
                  <a:pt x="0" y="0"/>
                </a:lnTo>
                <a:lnTo>
                  <a:pt x="0" y="6715527"/>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162246" y="586146"/>
            <a:ext cx="10714760" cy="1365779"/>
          </a:xfrm>
          <a:prstGeom prst="rect">
            <a:avLst/>
          </a:prstGeom>
        </p:spPr>
        <p:txBody>
          <a:bodyPr anchor="t" rtlCol="false" tIns="0" lIns="0" bIns="0" rIns="0">
            <a:spAutoFit/>
          </a:bodyPr>
          <a:lstStyle/>
          <a:p>
            <a:pPr algn="l">
              <a:lnSpc>
                <a:spcPts val="11202"/>
              </a:lnSpc>
            </a:pPr>
            <a:r>
              <a:rPr lang="en-US" sz="8001">
                <a:solidFill>
                  <a:srgbClr val="390808"/>
                </a:solidFill>
                <a:latin typeface="Anton"/>
                <a:ea typeface="Anton"/>
                <a:cs typeface="Anton"/>
                <a:sym typeface="Anton"/>
              </a:rPr>
              <a:t>METODE</a:t>
            </a:r>
          </a:p>
        </p:txBody>
      </p:sp>
      <p:sp>
        <p:nvSpPr>
          <p:cNvPr name="TextBox 6" id="6"/>
          <p:cNvSpPr txBox="true"/>
          <p:nvPr/>
        </p:nvSpPr>
        <p:spPr>
          <a:xfrm rot="0">
            <a:off x="2554687" y="2342886"/>
            <a:ext cx="14704613" cy="7944114"/>
          </a:xfrm>
          <a:prstGeom prst="rect">
            <a:avLst/>
          </a:prstGeom>
        </p:spPr>
        <p:txBody>
          <a:bodyPr anchor="t" rtlCol="false" tIns="0" lIns="0" bIns="0" rIns="0">
            <a:spAutoFit/>
          </a:bodyPr>
          <a:lstStyle/>
          <a:p>
            <a:pPr algn="l" marL="808405" indent="-404203" lvl="1">
              <a:lnSpc>
                <a:spcPts val="5242"/>
              </a:lnSpc>
              <a:buAutoNum type="arabicPeriod" startAt="1"/>
            </a:pPr>
            <a:r>
              <a:rPr lang="en-US" b="true" sz="3744">
                <a:solidFill>
                  <a:srgbClr val="390808"/>
                </a:solidFill>
                <a:latin typeface="Libre Baskerville Bold"/>
                <a:ea typeface="Libre Baskerville Bold"/>
                <a:cs typeface="Libre Baskerville Bold"/>
                <a:sym typeface="Libre Baskerville Bold"/>
              </a:rPr>
              <a:t>Wawanca</a:t>
            </a:r>
            <a:r>
              <a:rPr lang="en-US" b="true" sz="3744">
                <a:solidFill>
                  <a:srgbClr val="390808"/>
                </a:solidFill>
                <a:latin typeface="Libre Baskerville Bold"/>
                <a:ea typeface="Libre Baskerville Bold"/>
                <a:cs typeface="Libre Baskerville Bold"/>
                <a:sym typeface="Libre Baskerville Bold"/>
              </a:rPr>
              <a:t>ra</a:t>
            </a:r>
          </a:p>
          <a:p>
            <a:pPr algn="l">
              <a:lnSpc>
                <a:spcPts val="5242"/>
              </a:lnSpc>
            </a:pPr>
            <a:r>
              <a:rPr lang="en-US" sz="3744">
                <a:solidFill>
                  <a:srgbClr val="390808"/>
                </a:solidFill>
                <a:latin typeface="Libre Baskerville"/>
                <a:ea typeface="Libre Baskerville"/>
                <a:cs typeface="Libre Baskerville"/>
                <a:sym typeface="Libre Baskerville"/>
              </a:rPr>
              <a:t>       Dengan pengembang, pengelola, dan operator SIMPEG.</a:t>
            </a:r>
          </a:p>
          <a:p>
            <a:pPr algn="l" marL="808405" indent="-404203" lvl="1">
              <a:lnSpc>
                <a:spcPts val="5242"/>
              </a:lnSpc>
              <a:buAutoNum type="arabicPeriod" startAt="1"/>
            </a:pPr>
            <a:r>
              <a:rPr lang="en-US" b="true" sz="3744">
                <a:solidFill>
                  <a:srgbClr val="390808"/>
                </a:solidFill>
                <a:latin typeface="Libre Baskerville Bold"/>
                <a:ea typeface="Libre Baskerville Bold"/>
                <a:cs typeface="Libre Baskerville Bold"/>
                <a:sym typeface="Libre Baskerville Bold"/>
              </a:rPr>
              <a:t>Observasi</a:t>
            </a:r>
          </a:p>
          <a:p>
            <a:pPr algn="l">
              <a:lnSpc>
                <a:spcPts val="5242"/>
              </a:lnSpc>
            </a:pPr>
            <a:r>
              <a:rPr lang="en-US" sz="3744">
                <a:solidFill>
                  <a:srgbClr val="390808"/>
                </a:solidFill>
                <a:latin typeface="Libre Baskerville"/>
                <a:ea typeface="Libre Baskerville"/>
                <a:cs typeface="Libre Baskerville"/>
                <a:sym typeface="Libre Baskerville"/>
              </a:rPr>
              <a:t>       Mengamati langsung sistem SIMPEG.</a:t>
            </a:r>
          </a:p>
          <a:p>
            <a:pPr algn="l" marL="808405" indent="-404203" lvl="1">
              <a:lnSpc>
                <a:spcPts val="5242"/>
              </a:lnSpc>
              <a:buAutoNum type="arabicPeriod" startAt="1"/>
            </a:pPr>
            <a:r>
              <a:rPr lang="en-US" b="true" sz="3744">
                <a:solidFill>
                  <a:srgbClr val="390808"/>
                </a:solidFill>
                <a:latin typeface="Libre Baskerville Bold"/>
                <a:ea typeface="Libre Baskerville Bold"/>
                <a:cs typeface="Libre Baskerville Bold"/>
                <a:sym typeface="Libre Baskerville Bold"/>
              </a:rPr>
              <a:t>Studi Pustaka</a:t>
            </a:r>
          </a:p>
          <a:p>
            <a:pPr algn="l">
              <a:lnSpc>
                <a:spcPts val="5242"/>
              </a:lnSpc>
            </a:pPr>
            <a:r>
              <a:rPr lang="en-US" sz="3744">
                <a:solidFill>
                  <a:srgbClr val="390808"/>
                </a:solidFill>
                <a:latin typeface="Libre Baskerville"/>
                <a:ea typeface="Libre Baskerville"/>
                <a:cs typeface="Libre Baskerville"/>
                <a:sym typeface="Libre Baskerville"/>
              </a:rPr>
              <a:t>       Menggunakan jurnal, artikel, dan referensi terkait.</a:t>
            </a:r>
          </a:p>
          <a:p>
            <a:pPr algn="l" marL="808405" indent="-404203" lvl="1">
              <a:lnSpc>
                <a:spcPts val="5242"/>
              </a:lnSpc>
              <a:buAutoNum type="arabicPeriod" startAt="1"/>
            </a:pPr>
            <a:r>
              <a:rPr lang="en-US" b="true" sz="3744">
                <a:solidFill>
                  <a:srgbClr val="390808"/>
                </a:solidFill>
                <a:latin typeface="Libre Baskerville Bold"/>
                <a:ea typeface="Libre Baskerville Bold"/>
                <a:cs typeface="Libre Baskerville Bold"/>
                <a:sym typeface="Libre Baskerville Bold"/>
              </a:rPr>
              <a:t>Analisis Keamanan Informasi</a:t>
            </a:r>
          </a:p>
          <a:p>
            <a:pPr algn="l">
              <a:lnSpc>
                <a:spcPts val="5242"/>
              </a:lnSpc>
            </a:pPr>
            <a:r>
              <a:rPr lang="en-US" sz="3744">
                <a:solidFill>
                  <a:srgbClr val="390808"/>
                </a:solidFill>
                <a:latin typeface="Libre Baskerville"/>
                <a:ea typeface="Libre Baskerville"/>
                <a:cs typeface="Libre Baskerville"/>
                <a:sym typeface="Libre Baskerville"/>
              </a:rPr>
              <a:t>      Berdasarkan 3 aspek:</a:t>
            </a:r>
          </a:p>
          <a:p>
            <a:pPr algn="l" marL="2425216" indent="-606304" lvl="3">
              <a:lnSpc>
                <a:spcPts val="5242"/>
              </a:lnSpc>
              <a:buFont typeface="Arial"/>
              <a:buChar char="￭"/>
            </a:pPr>
            <a:r>
              <a:rPr lang="en-US" sz="3744">
                <a:solidFill>
                  <a:srgbClr val="390808"/>
                </a:solidFill>
                <a:latin typeface="Libre Baskerville"/>
                <a:ea typeface="Libre Baskerville"/>
                <a:cs typeface="Libre Baskerville"/>
                <a:sym typeface="Libre Baskerville"/>
              </a:rPr>
              <a:t>Kerahasiaan</a:t>
            </a:r>
          </a:p>
          <a:p>
            <a:pPr algn="l" marL="2425216" indent="-606304" lvl="3">
              <a:lnSpc>
                <a:spcPts val="5242"/>
              </a:lnSpc>
              <a:buFont typeface="Arial"/>
              <a:buChar char="￭"/>
            </a:pPr>
            <a:r>
              <a:rPr lang="en-US" sz="3744">
                <a:solidFill>
                  <a:srgbClr val="390808"/>
                </a:solidFill>
                <a:latin typeface="Libre Baskerville"/>
                <a:ea typeface="Libre Baskerville"/>
                <a:cs typeface="Libre Baskerville"/>
                <a:sym typeface="Libre Baskerville"/>
              </a:rPr>
              <a:t>Integritas</a:t>
            </a:r>
          </a:p>
          <a:p>
            <a:pPr algn="l" marL="2425216" indent="-606304" lvl="3">
              <a:lnSpc>
                <a:spcPts val="5242"/>
              </a:lnSpc>
              <a:buFont typeface="Arial"/>
              <a:buChar char="￭"/>
            </a:pPr>
            <a:r>
              <a:rPr lang="en-US" sz="3744">
                <a:solidFill>
                  <a:srgbClr val="390808"/>
                </a:solidFill>
                <a:latin typeface="Libre Baskerville"/>
                <a:ea typeface="Libre Baskerville"/>
                <a:cs typeface="Libre Baskerville"/>
                <a:sym typeface="Libre Baskerville"/>
              </a:rPr>
              <a:t>Ketersediaan</a:t>
            </a:r>
          </a:p>
          <a:p>
            <a:pPr algn="l">
              <a:lnSpc>
                <a:spcPts val="5242"/>
              </a:lnSpc>
            </a:pPr>
            <a:r>
              <a:rPr lang="en-US" sz="3744">
                <a:solidFill>
                  <a:srgbClr val="390808"/>
                </a:solidFill>
                <a:latin typeface="Libre Baskerville"/>
                <a:ea typeface="Libre Baskerville"/>
                <a:cs typeface="Libre Baskerville"/>
                <a:sym typeface="Libre Baskerville"/>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03168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140109" y="202406"/>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011294" y="3123080"/>
            <a:ext cx="6764725" cy="6715527"/>
          </a:xfrm>
          <a:custGeom>
            <a:avLst/>
            <a:gdLst/>
            <a:ahLst/>
            <a:cxnLst/>
            <a:rect r="r" b="b" t="t" l="l"/>
            <a:pathLst>
              <a:path h="6715527" w="6764725">
                <a:moveTo>
                  <a:pt x="0" y="6715528"/>
                </a:moveTo>
                <a:lnTo>
                  <a:pt x="6764725" y="6715528"/>
                </a:lnTo>
                <a:lnTo>
                  <a:pt x="6764725"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371734" y="649364"/>
            <a:ext cx="11697681" cy="1164212"/>
          </a:xfrm>
          <a:prstGeom prst="rect">
            <a:avLst/>
          </a:prstGeom>
        </p:spPr>
        <p:txBody>
          <a:bodyPr anchor="t" rtlCol="false" tIns="0" lIns="0" bIns="0" rIns="0">
            <a:spAutoFit/>
          </a:bodyPr>
          <a:lstStyle/>
          <a:p>
            <a:pPr algn="l">
              <a:lnSpc>
                <a:spcPts val="9517"/>
              </a:lnSpc>
            </a:pPr>
            <a:r>
              <a:rPr lang="en-US" sz="6798">
                <a:solidFill>
                  <a:srgbClr val="390808"/>
                </a:solidFill>
                <a:latin typeface="Anton"/>
                <a:ea typeface="Anton"/>
                <a:cs typeface="Anton"/>
                <a:sym typeface="Anton"/>
              </a:rPr>
              <a:t>PENERA</a:t>
            </a:r>
            <a:r>
              <a:rPr lang="en-US" sz="6798">
                <a:solidFill>
                  <a:srgbClr val="390808"/>
                </a:solidFill>
                <a:latin typeface="Anton"/>
                <a:ea typeface="Anton"/>
                <a:cs typeface="Anton"/>
                <a:sym typeface="Anton"/>
              </a:rPr>
              <a:t>PAN KEAMANAN INFORMASI</a:t>
            </a:r>
          </a:p>
        </p:txBody>
      </p:sp>
      <p:sp>
        <p:nvSpPr>
          <p:cNvPr name="TextBox 7" id="7"/>
          <p:cNvSpPr txBox="true"/>
          <p:nvPr/>
        </p:nvSpPr>
        <p:spPr>
          <a:xfrm rot="0">
            <a:off x="2594210" y="2027609"/>
            <a:ext cx="6100900" cy="6679456"/>
          </a:xfrm>
          <a:prstGeom prst="rect">
            <a:avLst/>
          </a:prstGeom>
        </p:spPr>
        <p:txBody>
          <a:bodyPr anchor="t" rtlCol="false" tIns="0" lIns="0" bIns="0" rIns="0">
            <a:spAutoFit/>
          </a:bodyPr>
          <a:lstStyle/>
          <a:p>
            <a:pPr algn="l" marL="679920" indent="-339960" lvl="1">
              <a:lnSpc>
                <a:spcPts val="4408"/>
              </a:lnSpc>
              <a:buAutoNum type="arabicPeriod" startAt="1"/>
            </a:pPr>
            <a:r>
              <a:rPr lang="en-US" b="true" sz="3149">
                <a:solidFill>
                  <a:srgbClr val="390808"/>
                </a:solidFill>
                <a:latin typeface="Libre Baskerville Bold"/>
                <a:ea typeface="Libre Baskerville Bold"/>
                <a:cs typeface="Libre Baskerville Bold"/>
                <a:sym typeface="Libre Baskerville Bold"/>
              </a:rPr>
              <a:t>K</a:t>
            </a:r>
            <a:r>
              <a:rPr lang="en-US" b="true" sz="3149">
                <a:solidFill>
                  <a:srgbClr val="390808"/>
                </a:solidFill>
                <a:latin typeface="Libre Baskerville Bold"/>
                <a:ea typeface="Libre Baskerville Bold"/>
                <a:cs typeface="Libre Baskerville Bold"/>
                <a:sym typeface="Libre Baskerville Bold"/>
              </a:rPr>
              <a:t>erahasiaan (Confidentiality)</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Akses sistem menggunakan akun terdaftar (SSO).</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Login menggunakan NIP/NIK dan email pegawai.</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Hanya pegawai internal yang bisa mengakses.</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Data tidak bisa diakses oleh pihak luar.</a:t>
            </a:r>
          </a:p>
        </p:txBody>
      </p:sp>
      <p:sp>
        <p:nvSpPr>
          <p:cNvPr name="TextBox 8" id="8"/>
          <p:cNvSpPr txBox="true"/>
          <p:nvPr/>
        </p:nvSpPr>
        <p:spPr>
          <a:xfrm rot="0">
            <a:off x="9144000" y="2027609"/>
            <a:ext cx="7124182" cy="6679456"/>
          </a:xfrm>
          <a:prstGeom prst="rect">
            <a:avLst/>
          </a:prstGeom>
        </p:spPr>
        <p:txBody>
          <a:bodyPr anchor="t" rtlCol="false" tIns="0" lIns="0" bIns="0" rIns="0">
            <a:spAutoFit/>
          </a:bodyPr>
          <a:lstStyle/>
          <a:p>
            <a:pPr algn="l" marL="679920" indent="-339960" lvl="1">
              <a:lnSpc>
                <a:spcPts val="4408"/>
              </a:lnSpc>
              <a:buAutoNum type="arabicPeriod" startAt="1"/>
            </a:pPr>
            <a:r>
              <a:rPr lang="en-US" b="true" sz="3149">
                <a:solidFill>
                  <a:srgbClr val="390808"/>
                </a:solidFill>
                <a:latin typeface="Libre Baskerville Bold"/>
                <a:ea typeface="Libre Baskerville Bold"/>
                <a:cs typeface="Libre Baskerville Bold"/>
                <a:sym typeface="Libre Baskerville Bold"/>
              </a:rPr>
              <a:t>Integ</a:t>
            </a:r>
            <a:r>
              <a:rPr lang="en-US" b="true" sz="3149">
                <a:solidFill>
                  <a:srgbClr val="390808"/>
                </a:solidFill>
                <a:latin typeface="Libre Baskerville Bold"/>
                <a:ea typeface="Libre Baskerville Bold"/>
                <a:cs typeface="Libre Baskerville Bold"/>
                <a:sym typeface="Libre Baskerville Bold"/>
              </a:rPr>
              <a:t>ritas (Integrity)</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Data hanya bisa diubah oleh operator SIMPEG.</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Ada proses:</a:t>
            </a:r>
          </a:p>
          <a:p>
            <a:pPr algn="l">
              <a:lnSpc>
                <a:spcPts val="4408"/>
              </a:lnSpc>
            </a:pPr>
            <a:r>
              <a:rPr lang="en-US" sz="3149">
                <a:solidFill>
                  <a:srgbClr val="390808"/>
                </a:solidFill>
                <a:latin typeface="Libre Baskerville"/>
                <a:ea typeface="Libre Baskerville"/>
                <a:cs typeface="Libre Baskerville"/>
                <a:sym typeface="Libre Baskerville"/>
              </a:rPr>
              <a:t>      -</a:t>
            </a:r>
            <a:r>
              <a:rPr lang="en-US" sz="3149">
                <a:solidFill>
                  <a:srgbClr val="390808"/>
                </a:solidFill>
                <a:latin typeface="Libre Baskerville"/>
                <a:ea typeface="Libre Baskerville"/>
                <a:cs typeface="Libre Baskerville"/>
                <a:sym typeface="Libre Baskerville"/>
              </a:rPr>
              <a:t>Input data</a:t>
            </a:r>
          </a:p>
          <a:p>
            <a:pPr algn="l">
              <a:lnSpc>
                <a:spcPts val="4408"/>
              </a:lnSpc>
            </a:pPr>
            <a:r>
              <a:rPr lang="en-US" sz="3149">
                <a:solidFill>
                  <a:srgbClr val="390808"/>
                </a:solidFill>
                <a:latin typeface="Libre Baskerville"/>
                <a:ea typeface="Libre Baskerville"/>
                <a:cs typeface="Libre Baskerville"/>
                <a:sym typeface="Libre Baskerville"/>
              </a:rPr>
              <a:t>      -</a:t>
            </a:r>
            <a:r>
              <a:rPr lang="en-US" sz="3149">
                <a:solidFill>
                  <a:srgbClr val="390808"/>
                </a:solidFill>
                <a:latin typeface="Libre Baskerville"/>
                <a:ea typeface="Libre Baskerville"/>
                <a:cs typeface="Libre Baskerville"/>
                <a:sym typeface="Libre Baskerville"/>
              </a:rPr>
              <a:t>Validasi data</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Setiap unit memiliki 2 operator:</a:t>
            </a:r>
          </a:p>
          <a:p>
            <a:pPr algn="l">
              <a:lnSpc>
                <a:spcPts val="4408"/>
              </a:lnSpc>
            </a:pPr>
            <a:r>
              <a:rPr lang="en-US" sz="3149">
                <a:solidFill>
                  <a:srgbClr val="390808"/>
                </a:solidFill>
                <a:latin typeface="Libre Baskerville"/>
                <a:ea typeface="Libre Baskerville"/>
                <a:cs typeface="Libre Baskerville"/>
                <a:sym typeface="Libre Baskerville"/>
              </a:rPr>
              <a:t>      -</a:t>
            </a:r>
            <a:r>
              <a:rPr lang="en-US" sz="3149">
                <a:solidFill>
                  <a:srgbClr val="390808"/>
                </a:solidFill>
                <a:latin typeface="Libre Baskerville"/>
                <a:ea typeface="Libre Baskerville"/>
                <a:cs typeface="Libre Baskerville"/>
                <a:sym typeface="Libre Baskerville"/>
              </a:rPr>
              <a:t>1 untuk input/upload</a:t>
            </a:r>
          </a:p>
          <a:p>
            <a:pPr algn="l">
              <a:lnSpc>
                <a:spcPts val="4408"/>
              </a:lnSpc>
            </a:pPr>
            <a:r>
              <a:rPr lang="en-US" sz="3149">
                <a:solidFill>
                  <a:srgbClr val="390808"/>
                </a:solidFill>
                <a:latin typeface="Libre Baskerville"/>
                <a:ea typeface="Libre Baskerville"/>
                <a:cs typeface="Libre Baskerville"/>
                <a:sym typeface="Libre Baskerville"/>
              </a:rPr>
              <a:t>      -</a:t>
            </a:r>
            <a:r>
              <a:rPr lang="en-US" sz="3149">
                <a:solidFill>
                  <a:srgbClr val="390808"/>
                </a:solidFill>
                <a:latin typeface="Libre Baskerville"/>
                <a:ea typeface="Libre Baskerville"/>
                <a:cs typeface="Libre Baskerville"/>
                <a:sym typeface="Libre Baskerville"/>
              </a:rPr>
              <a:t>1 untuk validasi</a:t>
            </a:r>
          </a:p>
          <a:p>
            <a:pPr algn="l" marL="679920" indent="-339960" lvl="1">
              <a:lnSpc>
                <a:spcPts val="4408"/>
              </a:lnSpc>
              <a:buFont typeface="Arial"/>
              <a:buChar char="•"/>
            </a:pPr>
            <a:r>
              <a:rPr lang="en-US" sz="3149">
                <a:solidFill>
                  <a:srgbClr val="390808"/>
                </a:solidFill>
                <a:latin typeface="Libre Baskerville"/>
                <a:ea typeface="Libre Baskerville"/>
                <a:cs typeface="Libre Baskerville"/>
                <a:sym typeface="Libre Baskerville"/>
              </a:rPr>
              <a:t>Data didukung oleh dokumen resmi → menjaga keakuratan.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03168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011294" y="3123080"/>
            <a:ext cx="6764725" cy="6715527"/>
          </a:xfrm>
          <a:custGeom>
            <a:avLst/>
            <a:gdLst/>
            <a:ahLst/>
            <a:cxnLst/>
            <a:rect r="r" b="b" t="t" l="l"/>
            <a:pathLst>
              <a:path h="6715527" w="6764725">
                <a:moveTo>
                  <a:pt x="0" y="6715528"/>
                </a:moveTo>
                <a:lnTo>
                  <a:pt x="6764725" y="6715528"/>
                </a:lnTo>
                <a:lnTo>
                  <a:pt x="6764725"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487077" y="1787788"/>
            <a:ext cx="10714997" cy="6256213"/>
          </a:xfrm>
          <a:prstGeom prst="rect">
            <a:avLst/>
          </a:prstGeom>
        </p:spPr>
        <p:txBody>
          <a:bodyPr anchor="t" rtlCol="false" tIns="0" lIns="0" bIns="0" rIns="0">
            <a:spAutoFit/>
          </a:bodyPr>
          <a:lstStyle/>
          <a:p>
            <a:pPr algn="l" marL="702047" indent="-351023" lvl="1">
              <a:lnSpc>
                <a:spcPts val="4552"/>
              </a:lnSpc>
              <a:buAutoNum type="arabicPeriod" startAt="1"/>
            </a:pPr>
            <a:r>
              <a:rPr lang="en-US" sz="3251">
                <a:solidFill>
                  <a:srgbClr val="390808"/>
                </a:solidFill>
                <a:latin typeface="Libre Baskerville"/>
                <a:ea typeface="Libre Baskerville"/>
                <a:cs typeface="Libre Baskerville"/>
                <a:sym typeface="Libre Baskerville"/>
              </a:rPr>
              <a:t>Kete</a:t>
            </a:r>
            <a:r>
              <a:rPr lang="en-US" sz="3251">
                <a:solidFill>
                  <a:srgbClr val="390808"/>
                </a:solidFill>
                <a:latin typeface="Libre Baskerville"/>
                <a:ea typeface="Libre Baskerville"/>
                <a:cs typeface="Libre Baskerville"/>
                <a:sym typeface="Libre Baskerville"/>
              </a:rPr>
              <a:t>rsediaan (Availability)</a:t>
            </a:r>
          </a:p>
          <a:p>
            <a:pPr algn="l" marL="702047" indent="-351023" lvl="1">
              <a:lnSpc>
                <a:spcPts val="4552"/>
              </a:lnSpc>
              <a:buFont typeface="Arial"/>
              <a:buChar char="•"/>
            </a:pPr>
            <a:r>
              <a:rPr lang="en-US" sz="3251">
                <a:solidFill>
                  <a:srgbClr val="390808"/>
                </a:solidFill>
                <a:latin typeface="Libre Baskerville"/>
                <a:ea typeface="Libre Baskerville"/>
                <a:cs typeface="Libre Baskerville"/>
                <a:sym typeface="Libre Baskerville"/>
              </a:rPr>
              <a:t>Sistem dapat diakses melalui:</a:t>
            </a:r>
          </a:p>
          <a:p>
            <a:pPr algn="l">
              <a:lnSpc>
                <a:spcPts val="4552"/>
              </a:lnSpc>
            </a:pPr>
            <a:r>
              <a:rPr lang="en-US" sz="3251">
                <a:solidFill>
                  <a:srgbClr val="390808"/>
                </a:solidFill>
                <a:latin typeface="Libre Baskerville"/>
                <a:ea typeface="Libre Baskerville"/>
                <a:cs typeface="Libre Baskerville"/>
                <a:sym typeface="Libre Baskerville"/>
              </a:rPr>
              <a:t>      - </a:t>
            </a:r>
            <a:r>
              <a:rPr lang="en-US" sz="3251">
                <a:solidFill>
                  <a:srgbClr val="390808"/>
                </a:solidFill>
                <a:latin typeface="Libre Baskerville"/>
                <a:ea typeface="Libre Baskerville"/>
                <a:cs typeface="Libre Baskerville"/>
                <a:sym typeface="Libre Baskerville"/>
              </a:rPr>
              <a:t>Laptop</a:t>
            </a:r>
          </a:p>
          <a:p>
            <a:pPr algn="l">
              <a:lnSpc>
                <a:spcPts val="4552"/>
              </a:lnSpc>
            </a:pPr>
            <a:r>
              <a:rPr lang="en-US" sz="3251">
                <a:solidFill>
                  <a:srgbClr val="390808"/>
                </a:solidFill>
                <a:latin typeface="Libre Baskerville"/>
                <a:ea typeface="Libre Baskerville"/>
                <a:cs typeface="Libre Baskerville"/>
                <a:sym typeface="Libre Baskerville"/>
              </a:rPr>
              <a:t>      - </a:t>
            </a:r>
            <a:r>
              <a:rPr lang="en-US" sz="3251">
                <a:solidFill>
                  <a:srgbClr val="390808"/>
                </a:solidFill>
                <a:latin typeface="Libre Baskerville"/>
                <a:ea typeface="Libre Baskerville"/>
                <a:cs typeface="Libre Baskerville"/>
                <a:sym typeface="Libre Baskerville"/>
              </a:rPr>
              <a:t>PC</a:t>
            </a:r>
          </a:p>
          <a:p>
            <a:pPr algn="l">
              <a:lnSpc>
                <a:spcPts val="4552"/>
              </a:lnSpc>
            </a:pPr>
            <a:r>
              <a:rPr lang="en-US" sz="3251">
                <a:solidFill>
                  <a:srgbClr val="390808"/>
                </a:solidFill>
                <a:latin typeface="Libre Baskerville"/>
                <a:ea typeface="Libre Baskerville"/>
                <a:cs typeface="Libre Baskerville"/>
                <a:sym typeface="Libre Baskerville"/>
              </a:rPr>
              <a:t>      - Smartphone</a:t>
            </a:r>
          </a:p>
          <a:p>
            <a:pPr algn="l" marL="702047" indent="-351023" lvl="1">
              <a:lnSpc>
                <a:spcPts val="4552"/>
              </a:lnSpc>
              <a:buFont typeface="Arial"/>
              <a:buChar char="•"/>
            </a:pPr>
            <a:r>
              <a:rPr lang="en-US" sz="3251">
                <a:solidFill>
                  <a:srgbClr val="390808"/>
                </a:solidFill>
                <a:latin typeface="Libre Baskerville"/>
                <a:ea typeface="Libre Baskerville"/>
                <a:cs typeface="Libre Baskerville"/>
                <a:sym typeface="Libre Baskerville"/>
              </a:rPr>
              <a:t>Data pegawai tersedia lengkap:</a:t>
            </a:r>
          </a:p>
          <a:p>
            <a:pPr algn="l">
              <a:lnSpc>
                <a:spcPts val="4552"/>
              </a:lnSpc>
            </a:pPr>
            <a:r>
              <a:rPr lang="en-US" sz="3251">
                <a:solidFill>
                  <a:srgbClr val="390808"/>
                </a:solidFill>
                <a:latin typeface="Libre Baskerville"/>
                <a:ea typeface="Libre Baskerville"/>
                <a:cs typeface="Libre Baskerville"/>
                <a:sym typeface="Libre Baskerville"/>
              </a:rPr>
              <a:t>      - </a:t>
            </a:r>
            <a:r>
              <a:rPr lang="en-US" sz="3251">
                <a:solidFill>
                  <a:srgbClr val="390808"/>
                </a:solidFill>
                <a:latin typeface="Libre Baskerville"/>
                <a:ea typeface="Libre Baskerville"/>
                <a:cs typeface="Libre Baskerville"/>
                <a:sym typeface="Libre Baskerville"/>
              </a:rPr>
              <a:t>Identitas</a:t>
            </a:r>
          </a:p>
          <a:p>
            <a:pPr algn="l">
              <a:lnSpc>
                <a:spcPts val="4552"/>
              </a:lnSpc>
            </a:pPr>
            <a:r>
              <a:rPr lang="en-US" sz="3251">
                <a:solidFill>
                  <a:srgbClr val="390808"/>
                </a:solidFill>
                <a:latin typeface="Libre Baskerville"/>
                <a:ea typeface="Libre Baskerville"/>
                <a:cs typeface="Libre Baskerville"/>
                <a:sym typeface="Libre Baskerville"/>
              </a:rPr>
              <a:t>      - Jabatan</a:t>
            </a:r>
          </a:p>
          <a:p>
            <a:pPr algn="l">
              <a:lnSpc>
                <a:spcPts val="4552"/>
              </a:lnSpc>
            </a:pPr>
            <a:r>
              <a:rPr lang="en-US" sz="3251">
                <a:solidFill>
                  <a:srgbClr val="390808"/>
                </a:solidFill>
                <a:latin typeface="Libre Baskerville"/>
                <a:ea typeface="Libre Baskerville"/>
                <a:cs typeface="Libre Baskerville"/>
                <a:sym typeface="Libre Baskerville"/>
              </a:rPr>
              <a:t>      - Pendidikan</a:t>
            </a:r>
          </a:p>
          <a:p>
            <a:pPr algn="l" marL="702047" indent="-351023" lvl="1">
              <a:lnSpc>
                <a:spcPts val="4552"/>
              </a:lnSpc>
              <a:buFont typeface="Arial"/>
              <a:buChar char="•"/>
            </a:pPr>
            <a:r>
              <a:rPr lang="en-US" sz="3251">
                <a:solidFill>
                  <a:srgbClr val="390808"/>
                </a:solidFill>
                <a:latin typeface="Libre Baskerville"/>
                <a:ea typeface="Libre Baskerville"/>
                <a:cs typeface="Libre Baskerville"/>
                <a:sym typeface="Libre Baskerville"/>
              </a:rPr>
              <a:t>Fitur pencarian memudahkan akses informasi.</a:t>
            </a:r>
          </a:p>
          <a:p>
            <a:pPr algn="l">
              <a:lnSpc>
                <a:spcPts val="455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03168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011294" y="3123080"/>
            <a:ext cx="6764725" cy="6715527"/>
          </a:xfrm>
          <a:custGeom>
            <a:avLst/>
            <a:gdLst/>
            <a:ahLst/>
            <a:cxnLst/>
            <a:rect r="r" b="b" t="t" l="l"/>
            <a:pathLst>
              <a:path h="6715527" w="6764725">
                <a:moveTo>
                  <a:pt x="0" y="6715528"/>
                </a:moveTo>
                <a:lnTo>
                  <a:pt x="6764725" y="6715528"/>
                </a:lnTo>
                <a:lnTo>
                  <a:pt x="6764725"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072683" y="1085604"/>
            <a:ext cx="9103038" cy="1164212"/>
          </a:xfrm>
          <a:prstGeom prst="rect">
            <a:avLst/>
          </a:prstGeom>
        </p:spPr>
        <p:txBody>
          <a:bodyPr anchor="t" rtlCol="false" tIns="0" lIns="0" bIns="0" rIns="0">
            <a:spAutoFit/>
          </a:bodyPr>
          <a:lstStyle/>
          <a:p>
            <a:pPr algn="l">
              <a:lnSpc>
                <a:spcPts val="9517"/>
              </a:lnSpc>
            </a:pPr>
            <a:r>
              <a:rPr lang="en-US" sz="6798">
                <a:solidFill>
                  <a:srgbClr val="390808"/>
                </a:solidFill>
                <a:latin typeface="Anton"/>
                <a:ea typeface="Anton"/>
                <a:cs typeface="Anton"/>
                <a:sym typeface="Anton"/>
              </a:rPr>
              <a:t>KESIMPULAN</a:t>
            </a:r>
          </a:p>
        </p:txBody>
      </p:sp>
      <p:sp>
        <p:nvSpPr>
          <p:cNvPr name="TextBox 7" id="7"/>
          <p:cNvSpPr txBox="true"/>
          <p:nvPr/>
        </p:nvSpPr>
        <p:spPr>
          <a:xfrm rot="0">
            <a:off x="2855621" y="2373641"/>
            <a:ext cx="13344383" cy="6641128"/>
          </a:xfrm>
          <a:prstGeom prst="rect">
            <a:avLst/>
          </a:prstGeom>
        </p:spPr>
        <p:txBody>
          <a:bodyPr anchor="t" rtlCol="false" tIns="0" lIns="0" bIns="0" rIns="0">
            <a:spAutoFit/>
          </a:bodyPr>
          <a:lstStyle/>
          <a:p>
            <a:pPr algn="l" marL="680200" indent="-340100" lvl="1">
              <a:lnSpc>
                <a:spcPts val="4410"/>
              </a:lnSpc>
              <a:buFont typeface="Arial"/>
              <a:buChar char="•"/>
            </a:pPr>
            <a:r>
              <a:rPr lang="en-US" sz="3150">
                <a:solidFill>
                  <a:srgbClr val="390808"/>
                </a:solidFill>
                <a:latin typeface="Libre Baskerville"/>
                <a:ea typeface="Libre Baskerville"/>
                <a:cs typeface="Libre Baskerville"/>
                <a:sym typeface="Libre Baskerville"/>
              </a:rPr>
              <a:t>SIMPEG</a:t>
            </a:r>
            <a:r>
              <a:rPr lang="en-US" sz="3150">
                <a:solidFill>
                  <a:srgbClr val="390808"/>
                </a:solidFill>
                <a:latin typeface="Libre Baskerville"/>
                <a:ea typeface="Libre Baskerville"/>
                <a:cs typeface="Libre Baskerville"/>
                <a:sym typeface="Libre Baskerville"/>
              </a:rPr>
              <a:t> merupakan sistem berbasis web untuk pengelolaan data pegawai.</a:t>
            </a:r>
          </a:p>
          <a:p>
            <a:pPr algn="l" marL="680200" indent="-340100" lvl="1">
              <a:lnSpc>
                <a:spcPts val="4410"/>
              </a:lnSpc>
              <a:buFont typeface="Arial"/>
              <a:buChar char="•"/>
            </a:pPr>
            <a:r>
              <a:rPr lang="en-US" sz="3150">
                <a:solidFill>
                  <a:srgbClr val="390808"/>
                </a:solidFill>
                <a:latin typeface="Libre Baskerville"/>
                <a:ea typeface="Libre Baskerville"/>
                <a:cs typeface="Libre Baskerville"/>
                <a:sym typeface="Libre Baskerville"/>
              </a:rPr>
              <a:t>Keamanan informasi telah diterapkan dengan baik melalui:</a:t>
            </a:r>
          </a:p>
          <a:p>
            <a:pPr algn="l">
              <a:lnSpc>
                <a:spcPts val="4410"/>
              </a:lnSpc>
            </a:pPr>
            <a:r>
              <a:rPr lang="en-US" sz="3150">
                <a:solidFill>
                  <a:srgbClr val="390808"/>
                </a:solidFill>
                <a:latin typeface="Libre Baskerville"/>
                <a:ea typeface="Libre Baskerville"/>
                <a:cs typeface="Libre Baskerville"/>
                <a:sym typeface="Libre Baskerville"/>
              </a:rPr>
              <a:t>      - </a:t>
            </a:r>
            <a:r>
              <a:rPr lang="en-US" sz="3150">
                <a:solidFill>
                  <a:srgbClr val="390808"/>
                </a:solidFill>
                <a:latin typeface="Libre Baskerville"/>
                <a:ea typeface="Libre Baskerville"/>
                <a:cs typeface="Libre Baskerville"/>
                <a:sym typeface="Libre Baskerville"/>
              </a:rPr>
              <a:t>SSO (login aman)</a:t>
            </a:r>
          </a:p>
          <a:p>
            <a:pPr algn="l">
              <a:lnSpc>
                <a:spcPts val="4410"/>
              </a:lnSpc>
            </a:pPr>
            <a:r>
              <a:rPr lang="en-US" sz="3150">
                <a:solidFill>
                  <a:srgbClr val="390808"/>
                </a:solidFill>
                <a:latin typeface="Libre Baskerville"/>
                <a:ea typeface="Libre Baskerville"/>
                <a:cs typeface="Libre Baskerville"/>
                <a:sym typeface="Libre Baskerville"/>
              </a:rPr>
              <a:t>      - Pembatasan akses</a:t>
            </a:r>
          </a:p>
          <a:p>
            <a:pPr algn="l">
              <a:lnSpc>
                <a:spcPts val="4410"/>
              </a:lnSpc>
            </a:pPr>
            <a:r>
              <a:rPr lang="en-US" sz="3150">
                <a:solidFill>
                  <a:srgbClr val="390808"/>
                </a:solidFill>
                <a:latin typeface="Libre Baskerville"/>
                <a:ea typeface="Libre Baskerville"/>
                <a:cs typeface="Libre Baskerville"/>
                <a:sym typeface="Libre Baskerville"/>
              </a:rPr>
              <a:t>      - Validasi data oleh operator</a:t>
            </a:r>
          </a:p>
          <a:p>
            <a:pPr algn="l" marL="680200" indent="-340100" lvl="1">
              <a:lnSpc>
                <a:spcPts val="4410"/>
              </a:lnSpc>
              <a:buFont typeface="Arial"/>
              <a:buChar char="•"/>
            </a:pPr>
            <a:r>
              <a:rPr lang="en-US" sz="3150">
                <a:solidFill>
                  <a:srgbClr val="390808"/>
                </a:solidFill>
                <a:latin typeface="Libre Baskerville"/>
                <a:ea typeface="Libre Baskerville"/>
                <a:cs typeface="Libre Baskerville"/>
                <a:sym typeface="Libre Baskerville"/>
              </a:rPr>
              <a:t>Sistem mampu menjaga:</a:t>
            </a:r>
          </a:p>
          <a:p>
            <a:pPr algn="l">
              <a:lnSpc>
                <a:spcPts val="4410"/>
              </a:lnSpc>
            </a:pPr>
            <a:r>
              <a:rPr lang="en-US" sz="3150">
                <a:solidFill>
                  <a:srgbClr val="390808"/>
                </a:solidFill>
                <a:latin typeface="Libre Baskerville"/>
                <a:ea typeface="Libre Baskerville"/>
                <a:cs typeface="Libre Baskerville"/>
                <a:sym typeface="Libre Baskerville"/>
              </a:rPr>
              <a:t>      - </a:t>
            </a:r>
            <a:r>
              <a:rPr lang="en-US" sz="3150">
                <a:solidFill>
                  <a:srgbClr val="390808"/>
                </a:solidFill>
                <a:latin typeface="Libre Baskerville"/>
                <a:ea typeface="Libre Baskerville"/>
                <a:cs typeface="Libre Baskerville"/>
                <a:sym typeface="Libre Baskerville"/>
              </a:rPr>
              <a:t>Kerahasiaan data</a:t>
            </a:r>
          </a:p>
          <a:p>
            <a:pPr algn="l">
              <a:lnSpc>
                <a:spcPts val="4410"/>
              </a:lnSpc>
            </a:pPr>
            <a:r>
              <a:rPr lang="en-US" sz="3150">
                <a:solidFill>
                  <a:srgbClr val="390808"/>
                </a:solidFill>
                <a:latin typeface="Libre Baskerville"/>
                <a:ea typeface="Libre Baskerville"/>
                <a:cs typeface="Libre Baskerville"/>
                <a:sym typeface="Libre Baskerville"/>
              </a:rPr>
              <a:t>      - Keakuratan data</a:t>
            </a:r>
          </a:p>
          <a:p>
            <a:pPr algn="l">
              <a:lnSpc>
                <a:spcPts val="4410"/>
              </a:lnSpc>
            </a:pPr>
            <a:r>
              <a:rPr lang="en-US" sz="3150">
                <a:solidFill>
                  <a:srgbClr val="390808"/>
                </a:solidFill>
                <a:latin typeface="Libre Baskerville"/>
                <a:ea typeface="Libre Baskerville"/>
                <a:cs typeface="Libre Baskerville"/>
                <a:sym typeface="Libre Baskerville"/>
              </a:rPr>
              <a:t>      - Ketersediaan informasi</a:t>
            </a:r>
          </a:p>
          <a:p>
            <a:pPr algn="l" marL="680200" indent="-340100" lvl="1">
              <a:lnSpc>
                <a:spcPts val="4410"/>
              </a:lnSpc>
              <a:buFont typeface="Arial"/>
              <a:buChar char="•"/>
            </a:pPr>
            <a:r>
              <a:rPr lang="en-US" sz="3150">
                <a:solidFill>
                  <a:srgbClr val="390808"/>
                </a:solidFill>
                <a:latin typeface="Libre Baskerville"/>
                <a:ea typeface="Libre Baskerville"/>
                <a:cs typeface="Libre Baskerville"/>
                <a:sym typeface="Libre Baskerville"/>
              </a:rPr>
              <a:t>Aturan sistem mencegah manipulasi data oleh pihak tidak berwenang.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FEF1"/>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031689" y="3351769"/>
            <a:ext cx="10827198" cy="3583461"/>
          </a:xfrm>
          <a:custGeom>
            <a:avLst/>
            <a:gdLst/>
            <a:ahLst/>
            <a:cxnLst/>
            <a:rect r="r" b="b" t="t" l="l"/>
            <a:pathLst>
              <a:path h="3583461" w="10827198">
                <a:moveTo>
                  <a:pt x="0" y="0"/>
                </a:moveTo>
                <a:lnTo>
                  <a:pt x="10827198" y="0"/>
                </a:lnTo>
                <a:lnTo>
                  <a:pt x="10827198" y="3583462"/>
                </a:lnTo>
                <a:lnTo>
                  <a:pt x="0" y="3583462"/>
                </a:lnTo>
                <a:lnTo>
                  <a:pt x="0" y="0"/>
                </a:lnTo>
                <a:close/>
              </a:path>
            </a:pathLst>
          </a:custGeom>
          <a:blipFill>
            <a:blip r:embed="rId2"/>
            <a:stretch>
              <a:fillRect l="0" t="0" r="0" b="-41629"/>
            </a:stretch>
          </a:blipFill>
        </p:spPr>
      </p:sp>
      <p:sp>
        <p:nvSpPr>
          <p:cNvPr name="Freeform 3" id="3"/>
          <p:cNvSpPr/>
          <p:nvPr/>
        </p:nvSpPr>
        <p:spPr>
          <a:xfrm flipH="false" flipV="false" rot="0">
            <a:off x="3072683" y="9258300"/>
            <a:ext cx="5147891" cy="580308"/>
          </a:xfrm>
          <a:custGeom>
            <a:avLst/>
            <a:gdLst/>
            <a:ahLst/>
            <a:cxnLst/>
            <a:rect r="r" b="b" t="t" l="l"/>
            <a:pathLst>
              <a:path h="580308" w="5147891">
                <a:moveTo>
                  <a:pt x="0" y="0"/>
                </a:moveTo>
                <a:lnTo>
                  <a:pt x="5147892" y="0"/>
                </a:lnTo>
                <a:lnTo>
                  <a:pt x="5147892" y="580308"/>
                </a:lnTo>
                <a:lnTo>
                  <a:pt x="0" y="5803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628128" y="448392"/>
            <a:ext cx="5147891" cy="580308"/>
          </a:xfrm>
          <a:custGeom>
            <a:avLst/>
            <a:gdLst/>
            <a:ahLst/>
            <a:cxnLst/>
            <a:rect r="r" b="b" t="t" l="l"/>
            <a:pathLst>
              <a:path h="580308" w="5147891">
                <a:moveTo>
                  <a:pt x="5147891" y="0"/>
                </a:moveTo>
                <a:lnTo>
                  <a:pt x="0" y="0"/>
                </a:lnTo>
                <a:lnTo>
                  <a:pt x="0" y="580308"/>
                </a:lnTo>
                <a:lnTo>
                  <a:pt x="5147891" y="580308"/>
                </a:lnTo>
                <a:lnTo>
                  <a:pt x="514789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true" rot="0">
            <a:off x="11011294" y="3123080"/>
            <a:ext cx="6764725" cy="6715527"/>
          </a:xfrm>
          <a:custGeom>
            <a:avLst/>
            <a:gdLst/>
            <a:ahLst/>
            <a:cxnLst/>
            <a:rect r="r" b="b" t="t" l="l"/>
            <a:pathLst>
              <a:path h="6715527" w="6764725">
                <a:moveTo>
                  <a:pt x="0" y="6715528"/>
                </a:moveTo>
                <a:lnTo>
                  <a:pt x="6764725" y="6715528"/>
                </a:lnTo>
                <a:lnTo>
                  <a:pt x="6764725" y="0"/>
                </a:lnTo>
                <a:lnTo>
                  <a:pt x="0" y="0"/>
                </a:lnTo>
                <a:lnTo>
                  <a:pt x="0" y="6715528"/>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072683" y="3448726"/>
            <a:ext cx="11651208" cy="3046649"/>
          </a:xfrm>
          <a:prstGeom prst="rect">
            <a:avLst/>
          </a:prstGeom>
        </p:spPr>
        <p:txBody>
          <a:bodyPr anchor="t" rtlCol="false" tIns="0" lIns="0" bIns="0" rIns="0">
            <a:spAutoFit/>
          </a:bodyPr>
          <a:lstStyle/>
          <a:p>
            <a:pPr algn="l">
              <a:lnSpc>
                <a:spcPts val="24962"/>
              </a:lnSpc>
            </a:pPr>
            <a:r>
              <a:rPr lang="en-US" sz="17830">
                <a:solidFill>
                  <a:srgbClr val="390808"/>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DAHFsXIUqQs</dc:identifier>
  <dcterms:modified xsi:type="dcterms:W3CDTF">2011-08-01T06:04:30Z</dcterms:modified>
  <cp:revision>1</cp:revision>
  <dc:title>Grey And Cream Modern Project Presentation</dc:title>
</cp:coreProperties>
</file>